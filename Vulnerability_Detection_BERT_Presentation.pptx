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0" y="-914400"/>
            <a:ext cx="5486400" cy="54864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3657600"/>
            <a:ext cx="5486400" cy="4572000"/>
          </a:xfrm>
          <a:prstGeom prst="roundRect">
            <a:avLst/>
          </a:prstGeom>
          <a:solidFill>
            <a:srgbClr val="0E4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BTech Final Year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Automated Vulnerability Detection in C/C++ Source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Calibri"/>
              </a:defRPr>
            </a:pPr>
            <a:r>
              <a:t>Using Optimized BERT-base Transformer with Explainable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840480"/>
            <a:ext cx="137160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Presented By: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Nahyan M</a:t>
            </a:r>
          </a:p>
          <a:p>
            <a:pPr>
              <a:spcBef>
                <a:spcPts val="600"/>
              </a:spcBef>
              <a:defRPr sz="800" b="0">
                <a:solidFill>
                  <a:srgbClr val="94A3B8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Department of Computer Science &amp; Engineering</a:t>
            </a:r>
          </a:p>
          <a:p>
            <a:pPr>
              <a:spcBef>
                <a:spcPts val="6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Academic Year 2025–2026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4389120"/>
            <a:ext cx="365760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4480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KEY ACHIEVEMENT</a:t>
            </a:r>
          </a:p>
          <a:p>
            <a:pPr>
              <a:spcBef>
                <a:spcPts val="400"/>
              </a:spcBef>
              <a:defRPr sz="4400" b="1">
                <a:solidFill>
                  <a:srgbClr val="10B981"/>
                </a:solidFill>
                <a:latin typeface="Calibri"/>
              </a:defRPr>
            </a:pPr>
            <a:r>
              <a:t>87.5%</a:t>
            </a:r>
          </a:p>
          <a:p>
            <a:pPr>
              <a:spcBef>
                <a:spcPts val="2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Accuracy on 33K Test 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Presentation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1051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08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Problem Definition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Why automated vulnerability detection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03520" cy="1051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508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Existing approaches and research gaps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5303520" cy="1051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743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Proposed System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End-to-end pipeline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606040"/>
            <a:ext cx="5303520" cy="1051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743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Algorithms &amp;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Training pipeline and optimization strategies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5303520" cy="1051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977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9776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Codebase modules and configuration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840480"/>
            <a:ext cx="5303520" cy="1051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977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9776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Results &amp;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Performance metrics and evaluation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074920"/>
            <a:ext cx="5303520" cy="1051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212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2120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Explainability (SHAP &amp; LIME)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623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Trustworthy AI transparency layer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074920"/>
            <a:ext cx="5303520" cy="1051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5212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2120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623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Summary and research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97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Problem Definition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Why automated vulnerability detection is critical in modern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Software Vulnerability Crisis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4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1371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F4444"/>
                </a:solidFill>
                <a:latin typeface="Calibri"/>
              </a:defRPr>
            </a:pPr>
            <a:r>
              <a:t>28,000+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CVEs reported</a:t>
            </a:r>
            <a:br/>
            <a:r>
              <a:t>in 2023 alone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560320" cy="1371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4630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Calibri"/>
              </a:defRPr>
            </a:pPr>
            <a:r>
              <a:t>94%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Web apps have</a:t>
            </a:r>
            <a:br/>
            <a:r>
              <a:t>critical flaws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2560320" cy="1371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F4444"/>
                </a:solidFill>
                <a:latin typeface="Calibri"/>
              </a:defRPr>
            </a:pPr>
            <a:r>
              <a:t>$4.45M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Average cost of</a:t>
            </a:r>
            <a:br/>
            <a:r>
              <a:t>a data breach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371600"/>
            <a:ext cx="2560320" cy="1371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4630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Calibri"/>
              </a:defRPr>
            </a:pPr>
            <a:r>
              <a:t>277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Average time to</a:t>
            </a:r>
            <a:br/>
            <a:r>
              <a:t>identify a breach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17520"/>
            <a:ext cx="5303520" cy="3474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108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THE PROBLEM</a:t>
            </a:r>
          </a:p>
          <a:p>
            <a:pPr>
              <a:spcBef>
                <a:spcPts val="8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▸  Manual code review is slow, expensive, and error-prone</a:t>
            </a:r>
          </a:p>
          <a:p>
            <a:pPr>
              <a:spcBef>
                <a:spcPts val="8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▸  Traditional static analysis tools produce high false-positive rates</a:t>
            </a:r>
          </a:p>
          <a:p>
            <a:pPr>
              <a:spcBef>
                <a:spcPts val="8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▸  Rule-based systems cannot detect novel vulnerability patterns</a:t>
            </a:r>
          </a:p>
          <a:p>
            <a:pPr>
              <a:spcBef>
                <a:spcPts val="8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▸  C/C++ code is especially vulnerable due to manual memory management</a:t>
            </a:r>
          </a:p>
          <a:p>
            <a:pPr>
              <a:spcBef>
                <a:spcPts val="8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▸  Existing ML models lack transparency — developers don't trust black-box predictions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017520"/>
            <a:ext cx="5303520" cy="34747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108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OUR OBJECTIVE</a:t>
            </a:r>
          </a:p>
          <a:p>
            <a:pPr>
              <a:spcBef>
                <a:spcPts val="8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✓  Build a transformer-based binary classifier for C/C++ code</a:t>
            </a:r>
          </a:p>
          <a:p>
            <a:pPr>
              <a:spcBef>
                <a:spcPts val="8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✓  Adapt BERT-base (NLP model) for programming language understanding</a:t>
            </a:r>
          </a:p>
          <a:p>
            <a:pPr>
              <a:spcBef>
                <a:spcPts val="8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✓  Achieve high accuracy with calibrated prediction thresholds</a:t>
            </a:r>
          </a:p>
          <a:p>
            <a:pPr>
              <a:spcBef>
                <a:spcPts val="8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✓  Implement Trustworthy AI with SHAP &amp; LIME explainability</a:t>
            </a:r>
          </a:p>
          <a:p>
            <a:pPr>
              <a:spcBef>
                <a:spcPts val="8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✓  Serve predictions via a production-ready FastAPI endpoint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9728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Survey of existing approaches and identification of research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Existing Approaches &amp; Research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106424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Static Analysis</a:t>
            </a:r>
            <a:br/>
            <a:r>
              <a:t>(Coverity, Fortify)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74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Rule-based pattern matching</a:t>
            </a:r>
            <a:br/>
            <a:r>
              <a:t>on AST/CFG structures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Calibri"/>
              </a:defRPr>
            </a:pPr>
            <a:r>
              <a:t>High false positives;</a:t>
            </a:r>
            <a:br/>
            <a:r>
              <a:t>cannot learn new patterns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1106424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CNN/RNN Models</a:t>
            </a:r>
            <a:br/>
            <a:r>
              <a:t>(VulDeePecker, SySeVR)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063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Deep learning on code</a:t>
            </a:r>
            <a:br/>
            <a:r>
              <a:t>gadgets / slices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63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9E0B"/>
                </a:solidFill>
                <a:latin typeface="Calibri"/>
              </a:defRPr>
            </a:pPr>
            <a:r>
              <a:t>Requires manual feature</a:t>
            </a:r>
            <a:br/>
            <a:r>
              <a:t>extraction; limited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1106424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CodeBERT / GraphCodeBERT</a:t>
            </a:r>
            <a:br/>
            <a:r>
              <a:t>(Microsoft, 2020)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2519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Pre-trained on code+NL;</a:t>
            </a:r>
            <a:br/>
            <a:r>
              <a:t>Transformer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519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9E0B"/>
                </a:solidFill>
                <a:latin typeface="Calibri"/>
              </a:defRPr>
            </a:pPr>
            <a:r>
              <a:t>High resource cost;</a:t>
            </a:r>
            <a:br/>
            <a:r>
              <a:t>limited explainability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6424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Our Approach:</a:t>
            </a:r>
            <a:br/>
            <a:r>
              <a:t>Optimized BERT-base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440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NLP model adapted for code</a:t>
            </a:r>
            <a:br/>
            <a:r>
              <a:t>with MLP head + XAI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440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Achieves competitive accuracy</a:t>
            </a:r>
            <a:br/>
            <a:r>
              <a:t>with full transparency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943600"/>
            <a:ext cx="11064240" cy="5486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💡 Research Gap: No existing work combines BERT-base adaptation for code with dual explainability (SHAP + LIME) at production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Research Papers &amp; Foundations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7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Devlin et al., 2019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BERT: Pre-training of Deep Bidirectional Transformers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Foundation model — bidirectional attention for deep contextual understanding of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30352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Feng et al., 2020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691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CodeBERT: A Pre-Trained Model for Programming and Natural Languages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574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Demonstrated that Transformer models pre-trained on code achieve SOTA on code-related tasks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30352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17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Calibri"/>
              </a:defRPr>
            </a:pPr>
            <a:r>
              <a:t>Li et al., 2021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37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VulDeePecker: Deep Learning-Based Vulnerability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033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Pioneered DL-based code gadget extraction for vulnerability detection using BiLSTM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26080"/>
            <a:ext cx="530352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Fu &amp; Tantithamthavorn, 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337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LineVul: Transformer-based Line-Level Vulnerability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033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Applied CodeBERT for line-level vulnerability prediction achieving strong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530352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663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Lundberg &amp; Lee, 2017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83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SHAP: A Unified Approach to Interpreting Model Predictions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49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Provided theoretical foundation for our explainability layer using Shapley values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572000"/>
            <a:ext cx="530352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663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Ribeiro et al., 2016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983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LIME: Why Should I Trust You?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349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Local interpretable explanations — basis for our LIME-based transparency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97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System Architecture &amp;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End-to-end pipeline from raw data to explainable predictions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High-Level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64240" cy="1097280"/>
          </a:xfrm>
          <a:prstGeom prst="roundRect">
            <a:avLst/>
          </a:prstGeom>
          <a:solidFill>
            <a:srgbClr val="12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783080"/>
            <a:ext cx="292608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DiverseVul</a:t>
            </a:r>
            <a:br/>
            <a: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783080"/>
            <a:ext cx="292608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Two-Pass</a:t>
            </a:r>
            <a:br/>
            <a:r>
              <a:t>Streaming Loader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83080"/>
            <a:ext cx="292608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Balanced</a:t>
            </a:r>
            <a:br/>
            <a:r>
              <a:t>Undersampling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CORE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83280"/>
            <a:ext cx="11064240" cy="1097280"/>
          </a:xfrm>
          <a:prstGeom prst="roundRect">
            <a:avLst/>
          </a:prstGeom>
          <a:solidFill>
            <a:srgbClr val="0A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520440"/>
            <a:ext cx="292608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5661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Code-Specific</a:t>
            </a:r>
            <a:br/>
            <a:r>
              <a:t>Preprocessing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520440"/>
            <a:ext cx="292608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5661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BERT-base</a:t>
            </a:r>
            <a:br/>
            <a:r>
              <a:t>Tokenizer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520440"/>
            <a:ext cx="292608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5661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Fine-tuned</a:t>
            </a:r>
            <a:br/>
            <a:r>
              <a:t>Transformer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480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INFERENCE &amp; TRUST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120640"/>
            <a:ext cx="11064240" cy="1097280"/>
          </a:xfrm>
          <a:prstGeom prst="roundRect">
            <a:avLst/>
          </a:prstGeom>
          <a:solidFill>
            <a:srgbClr val="201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" y="5257800"/>
            <a:ext cx="292608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  <a:br/>
            <a:r>
              <a:t>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5257800"/>
            <a:ext cx="292608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Calibrated</a:t>
            </a:r>
            <a:br/>
            <a:r>
              <a:t>Prediction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5257800"/>
            <a:ext cx="292608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SHAP / LIME</a:t>
            </a:r>
            <a:br/>
            <a:r>
              <a:t>Explainer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5852160"/>
            <a:ext cx="4846320" cy="640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0" y="589788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🛡️  Final Audit Report  →  Vulnerability Verdict + Explainability Heatmap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Architecture: Optimized BERT with Custom MLP Head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BERT-base-uncased (110M Parameters)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Input: C/C++ Source Code (max 512 tokens)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WordPiece Tokenization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Token + Position + Segment Embeddings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12× Transformer Encoder Blocks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 └─ Multi-Head Self-Attention (12 heads)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 └─ Feed-Forward Network (3072 hidden)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 └─ Layer Normalization + Dropout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[CLS] Token Representation (768-dim)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200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371600"/>
            <a:ext cx="5029200" cy="32004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Custom MLP Classifier Head (Injected)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920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Linear Layer (768 → 768)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ReLU Activation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Dropout (p=0.1)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Linear Layer (768 → 2)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Softmax → P(Safe), P(Vulnerable)</a:t>
            </a:r>
          </a:p>
          <a:p>
            <a:pPr>
              <a:spcBef>
                <a:spcPts val="8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Threshold Calibration (t=0.65)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846320"/>
            <a:ext cx="5029200" cy="1371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49377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💡 WHY A CUSTOM MLP HEAD?</a:t>
            </a:r>
          </a:p>
          <a:p>
            <a:pPr>
              <a:spcBef>
                <a:spcPts val="4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Default HuggingFace uses a single Linear layer.</a:t>
            </a:r>
          </a:p>
          <a:p>
            <a:pPr>
              <a:spcBef>
                <a:spcPts val="2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Our 2-layer MLP provides more learning capacity</a:t>
            </a:r>
          </a:p>
          <a:p>
            <a:pPr>
              <a:spcBef>
                <a:spcPts val="2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to interpret complex vulnerability patterns in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97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Algorithms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Training pipeline, optimization techniques, and data processing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Training Pipeline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12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10972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 Acquisition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Two-pass streaming loader:</a:t>
            </a:r>
            <a:br/>
            <a:r>
              <a:t>Pass 1: Scan metadata (labels)</a:t>
            </a:r>
            <a:br/>
            <a:r>
              <a:t>Pass 2: Selective code loading</a:t>
            </a:r>
            <a:br/>
            <a:r>
              <a:t>for memory efficiency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371600"/>
            <a:ext cx="33832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39" y="1508760"/>
            <a:ext cx="109728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011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Drop nulls &amp; duplicates</a:t>
            </a:r>
            <a:br/>
            <a:r>
              <a:t>• CamelCase splitting</a:t>
            </a:r>
            <a:br/>
            <a:r>
              <a:t>• Operator normalization</a:t>
            </a:r>
            <a:br/>
            <a:r>
              <a:t>• Lowercase for BERT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8" y="1371600"/>
            <a:ext cx="33832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78" y="1508760"/>
            <a:ext cx="10972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8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198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Balanced Sampling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8" y="2011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Balanced Undersampling:</a:t>
            </a:r>
            <a:br/>
            <a:r>
              <a:t>50% Safe / 50% Vulnerable</a:t>
            </a:r>
            <a:br/>
            <a:r>
              <a:t>Prevents model bias toward</a:t>
            </a:r>
            <a:br/>
            <a:r>
              <a:t>majority 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33832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160520"/>
            <a:ext cx="109728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60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634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HuggingFace Trainer with:</a:t>
            </a:r>
            <a:br/>
            <a:r>
              <a:t>• Cosine LR scheduler</a:t>
            </a:r>
            <a:br/>
            <a:r>
              <a:t>• Warmup (10% of steps)</a:t>
            </a:r>
            <a:br/>
            <a:r>
              <a:t>• Early Stopping (patience=2)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4023360"/>
            <a:ext cx="33832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63439" y="4160520"/>
            <a:ext cx="10972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39" y="4160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59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46634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33,050 test samples</a:t>
            </a:r>
            <a:br/>
            <a:r>
              <a:t>• Custom threshold (0.65)</a:t>
            </a:r>
            <a:br/>
            <a:r>
              <a:t>• ROC AUC = 0.738</a:t>
            </a:r>
            <a:br/>
            <a:r>
              <a:t>• Accuracy = 87.5%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598" y="4023360"/>
            <a:ext cx="33832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12478" y="4160520"/>
            <a:ext cx="10972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8" y="4160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198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18" y="46634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FastAPI server with:</a:t>
            </a:r>
            <a:br/>
            <a:r>
              <a:t>• /predict endpoint</a:t>
            </a:r>
            <a:br/>
            <a:r>
              <a:t>• /health monitoring</a:t>
            </a:r>
            <a:br/>
            <a:r>
              <a:t>• SHAP/LIME on-demand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Algorithms &amp; Techniques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13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Algorithm 1: Code-Specific Preprocessing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function OPTIMIZE_CODE_FOR_BERT(code):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1. Remove C-style comments (// and /* */)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2. Split camelCase → 'bufferSize' → 'buffer Size'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3. Add spacing around operators: a+b → a + b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4. Normalize whitespace (tabs → single space)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5. Convert to lowercase (BERT base uncased)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return processed_code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30352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Algorithm 2: Balanced Undersampling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function BALANCE_DATA(dataset):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vuln_samples ← filter(target == 1)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safe_samples  ← filter(target == 0)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n ← min(|vuln_samples|, |safe_samples|)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balanced ← sample(safe, n) ∪ sample(vuln, n)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return shuffle(balanced)  // 50-50 ratio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303520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Algorithm 3: Weighted CrossEntropy Training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class WeightedTrainer(HuggingFaceTrainer):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function COMPUTE_LOSS(model, inputs):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  logits = model.forward(inputs)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  loss = CrossEntropyLoss(weight=class_weights)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  return loss(logits, labels)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LR Schedule: Cosine Annealing with Warmup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Warmup: 10% of total training steps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40480"/>
            <a:ext cx="5303520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Training Hyperparameters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Base Model: bert-base-uncased (110M params)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Learning Rate: 3e-5 with Cosine scheduler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Weight Decay: 0.05 (L2 regularization)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Max Epochs: 10 (Early stopping patience=2)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Batch Size: 16 (GPU) / 1+8 accum (MPS)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Max Tokens: 512 (GPU) / 256 (MPS)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  <a:latin typeface="Calibri"/>
              </a:defRPr>
            </a:pPr>
            <a:r>
              <a:t>Seed: 42 (reproducibility)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Dataset: DiverseVul — Large-Scale Vulnerability Corpus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14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85800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About the Dataset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Source: DiverseVul (2023) — curated from real-world open-source projects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Format: JSON Lines (JSONL) with 'func' (code) and 'target' (label) fields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Languages: C and C++ source functions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Labels: Binary — 0 (Safe) / 1 (Vulnerable)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Total Records: 330,000+ code functions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Test Set: 33,050 samples (held out with stratified split)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Class Distribution: ~94% Safe / ~6% Vulnerable (highly imbalanced)</a:t>
            </a:r>
          </a:p>
          <a:p>
            <a:pPr>
              <a:spcBef>
                <a:spcPts val="6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CWE Coverage: Multiple vulnerability types (buffer overflow, injection, etc.)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65760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Train/Val/Test Split</a:t>
            </a:r>
          </a:p>
          <a:p>
            <a:pPr>
              <a:spcBef>
                <a:spcPts val="8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Training: 80% (264K+ samples)</a:t>
            </a:r>
          </a:p>
          <a:p>
            <a:pPr>
              <a:spcBef>
                <a:spcPts val="8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Validation: 10% (33K samples)</a:t>
            </a:r>
          </a:p>
          <a:p>
            <a:pPr>
              <a:spcBef>
                <a:spcPts val="8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Testing: 10% (33,050 samples)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931920"/>
            <a:ext cx="3657600" cy="2468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⚠️ Class Imbalance Strategy</a:t>
            </a:r>
          </a:p>
          <a:p>
            <a:pPr>
              <a:spcBef>
                <a:spcPts val="800"/>
              </a:spcBef>
              <a:defRPr sz="1200" b="0">
                <a:solidFill>
                  <a:srgbClr val="EF4444"/>
                </a:solidFill>
                <a:latin typeface="Calibri"/>
              </a:defRPr>
            </a:pPr>
            <a:r>
              <a:t>Before: 94% Safe / 6% Vuln</a:t>
            </a:r>
          </a:p>
          <a:p>
            <a:pPr>
              <a:spcBef>
                <a:spcPts val="600"/>
              </a:spcBef>
              <a:defRPr sz="1200" b="0">
                <a:solidFill>
                  <a:srgbClr val="10B981"/>
                </a:solidFill>
                <a:latin typeface="Calibri"/>
              </a:defRPr>
            </a:pPr>
            <a:r>
              <a:t>After: 50% Safe / 50% Vuln</a:t>
            </a:r>
          </a:p>
          <a:p>
            <a:pPr>
              <a:spcBef>
                <a:spcPts val="8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Strategy: Physical Balanced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Undersampling (not just loss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weighting)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Implementation: Codebase Module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15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5760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Calibri"/>
              </a:defRPr>
            </a:pPr>
            <a:r>
              <a:t>configs/config.py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Device detection (CUDA/MPS/CPU), paths,</a:t>
            </a:r>
            <a:br/>
            <a:r>
              <a:t>hyperparameters, auto-scaling for hardware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65760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25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Calibri"/>
              </a:defRPr>
            </a:pPr>
            <a:r>
              <a:t>src/data/dataset_loader.py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Memory-optimized two-pass streaming:</a:t>
            </a:r>
            <a:br/>
            <a:r>
              <a:t>Pass 1: metadata, Pass 2: selective code 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65760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325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Calibri"/>
              </a:defRPr>
            </a:pPr>
            <a:r>
              <a:t>src/data/preprocessing.py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600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Cleaning, camelCase splitting, operator</a:t>
            </a:r>
            <a:br/>
            <a:r>
              <a:t>normalization, balanced undersampling, PyTorch 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60320"/>
            <a:ext cx="365760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06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src/model/model_loader.py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803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Load/save models, MLP head injection</a:t>
            </a:r>
            <a:br/>
            <a:r>
              <a:t>for non-CodeBERT models, weight loading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560320"/>
            <a:ext cx="365760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606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src/model/train.py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8803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WeightedTrainer with class-weighted loss,</a:t>
            </a:r>
            <a:br/>
            <a:r>
              <a:t>cosine LR, early stopping, metrics logging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560320"/>
            <a:ext cx="365760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606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src/model/evaluate.py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803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Test-set inference with custom threshold,</a:t>
            </a:r>
            <a:br/>
            <a:r>
              <a:t>confusion matrix &amp; full metrics reporting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40480"/>
            <a:ext cx="365760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886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src/model/predict.py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605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Singleton VulnerabilityPredictor class,</a:t>
            </a:r>
            <a:br/>
            <a:r>
              <a:t>calibrated prediction with LIME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840480"/>
            <a:ext cx="365760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3886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src/api/main.py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1605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REST API with /predict and /health endpoints,</a:t>
            </a:r>
            <a:br/>
            <a:r>
              <a:t>lifespan model loading, dual explainability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840480"/>
            <a:ext cx="365760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886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Calibri"/>
              </a:defRPr>
            </a:pPr>
            <a:r>
              <a:t>src/explainability/shap_explainer.py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1605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Per-token Shapley values for global</a:t>
            </a:r>
            <a:br/>
            <a:r>
              <a:t>model understanding and contribution scores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20640"/>
            <a:ext cx="365760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166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Calibri"/>
              </a:defRPr>
            </a:pPr>
            <a:r>
              <a:t>src/explainability/lime_explainer.py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440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Local perturbation-based explanations,</a:t>
            </a:r>
            <a:br/>
            <a:r>
              <a:t>statement-level splitting for code context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5120640"/>
            <a:ext cx="365760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5166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Calibri"/>
              </a:defRPr>
            </a:pPr>
            <a:r>
              <a:t>src/explainability/visualizer.py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440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ASCII heatmaps, outcome summaries,</a:t>
            </a:r>
            <a:br/>
            <a:r>
              <a:t>bias detection for suspicious token attribution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Tech Stack: Python 3.12  •  PyTorch ≥2.2  •  HuggingFace Transformers  •  FastAPI  •  SHAP  •  LIME  •  scikit-learn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97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Results &amp;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Quantitative evaluation on 33,050 test 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Evaluation Results (Threshold = 0.65)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17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10312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87.5%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High reliability on real-world code distribution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371600"/>
            <a:ext cx="210312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Calibri"/>
              </a:defRPr>
            </a:pPr>
            <a:r>
              <a:t>ROC 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0.738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Strong discriminative power between classes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371600"/>
            <a:ext cx="210312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34.7%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Catches ~1 in 3 real vulnerabilities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371600"/>
            <a:ext cx="210312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18.6%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Optimized for manageable alert volume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371600"/>
            <a:ext cx="210312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Calibri"/>
              </a:defRPr>
            </a:pPr>
            <a:r>
              <a:t>F1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0.24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Balanced performance for general BERT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474720"/>
            <a:ext cx="5029200" cy="2926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566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Confusion Matrix (33,050 samples)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256032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Pred: Safe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Pred: Vuln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Actual Safe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663440"/>
            <a:ext cx="13716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4709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28,225 (TN)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23360" y="4663440"/>
            <a:ext cx="1371600" cy="502920"/>
          </a:xfrm>
          <a:prstGeom prst="roundRect">
            <a:avLst/>
          </a:prstGeom>
          <a:solidFill>
            <a:srgbClr val="3F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0" y="4709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2,930 (FP)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303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Actual Vuln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60320" y="5303520"/>
            <a:ext cx="1371600" cy="502920"/>
          </a:xfrm>
          <a:prstGeom prst="roundRect">
            <a:avLst/>
          </a:prstGeom>
          <a:solidFill>
            <a:srgbClr val="3F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1,272 (FN)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23360" y="5303520"/>
            <a:ext cx="13716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2336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623 (TP)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474720"/>
            <a:ext cx="5303520" cy="2926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566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Baseline vs Optimized BERT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114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114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Optimized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4114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Gain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526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4526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Calibri"/>
              </a:defRPr>
            </a:pPr>
            <a:r>
              <a:t>5.8%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4526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Calibri"/>
              </a:defRPr>
            </a:pPr>
            <a:r>
              <a:t>87.5%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0" y="4526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Calibri"/>
              </a:defRPr>
            </a:pPr>
            <a:r>
              <a:t>+81.7%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ROC AUC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Calibri"/>
              </a:defRPr>
            </a:pPr>
            <a:r>
              <a:t>0.31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Calibri"/>
              </a:defRPr>
            </a:pPr>
            <a:r>
              <a:t>0.738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Calibri"/>
              </a:defRPr>
            </a:pPr>
            <a:r>
              <a:t>+0.43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5349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F1 Score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5349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Calibri"/>
              </a:defRPr>
            </a:pPr>
            <a:r>
              <a:t>0.10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0" y="5349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Calibri"/>
              </a:defRPr>
            </a:pPr>
            <a:r>
              <a:t>0.24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40" y="5349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Calibri"/>
              </a:defRPr>
            </a:pPr>
            <a:r>
              <a:t>+140%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5760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5760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Calibri"/>
              </a:defRPr>
            </a:pPr>
            <a:r>
              <a:t>97.1%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1120" y="5760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Calibri"/>
              </a:defRPr>
            </a:pPr>
            <a:r>
              <a:t>34.7%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9840" y="5760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Calibri"/>
              </a:defRPr>
            </a:pPr>
            <a:r>
              <a:t>Balanced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Explainability: Trustworthy AI Layer (SHAP &amp; LIME)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18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SHAP — Global Explainability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SHapley Additive exPlanations (SHAP)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Based on Shapley values from game theory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Computes exact contribution of each token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Generates per-token heatmaps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Answers: 'Which code patterns globally indicate vulnerability?'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Implementation: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Uses shap.Explainer with custom predict wrapper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Output: sorted list of (token, score) pairs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Positive score → pushes toward VULNERABLE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Negative score → pushes toward SAFE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Example: strcpy (+0.85), malloc (+0.62), sizeof (-0.45)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LIME — Local Explainability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Local Interpretable Model-agnostic Explanations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Perturbs input and trains local linear model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Statement-level splitting for code context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Generates natural language 'Findings'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Answers: 'Why was THIS code flagged?'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Implementation: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LimeTextExplainer with statement-split regex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500 perturbation samples per explanation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Top 10 features returned per prediction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Output: 'Token strcpy strongly signals vulnerability'</a:t>
            </a:r>
          </a:p>
          <a:p>
            <a:pPr>
              <a:spcBef>
                <a:spcPts val="3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Integrated with CLI --explain and API endpoint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19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✅ Key Contributions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Successfully adapted BERT-base (NLP) for C/C++ code vulnerability detection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Custom 2-layer MLP head injection for enhanced learning capacity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Code-specific preprocessing: camelCase splitting + operator normalization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Balanced undersampling achieving 87.5% accuracy on 33K test set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Dual explainability with SHAP (global) and LIME (local) transparency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Production-ready FastAPI deployment with real-time inference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Comprehensive bias detection for trustworthy model outputs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Threshold calibration (0.65) for optimal performance trade-off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🔮 Future Research Directions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Fine-tune CodeBERT / GraphCodeBERT for comparison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Line-level vulnerability localization (LineVul approach)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Multi-class CWE classification (beyond binary)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Graph Neural Networks on Code Property Graphs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Cross-language transfer (Python, Java, Go)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Continuous learning from newly discovered CVEs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IDE plugin integration (VS Code extension)</a:t>
            </a:r>
          </a:p>
          <a:p>
            <a:pPr>
              <a:spcBef>
                <a:spcPts val="600"/>
              </a:spcBef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Formal verification layer on top of ML predictions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20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57784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[1] Devlin, J., Chang, M., Lee, K., &amp; Toutanova, K. (2019). "BERT: Pre-training of Deep Bidirectional Transformers for Language Understanding." NAACL-HLT.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57784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[2] Feng, Z., Guo, D., Tang, D., et al. (2020). "CodeBERT: A Pre-Trained Model for Programming and Natural Languages." EMNLP Findings.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557784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[3] Li, Z., Zou, D., Xu, S., et al. (2021). "VulDeePecker: A Deep Learning-Based System for Vulnerability Detection." NDSS.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94560"/>
            <a:ext cx="557784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[4] Fu, M. &amp; Tantithamthavorn, C. (2022). "LineVul: A Transformer-based Line-Level Vulnerability Prediction." MSR.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557784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[5] Lundberg, S. &amp; Lee, S. (2017). "A Unified Approach to Interpreting Model Predictions." NeurIPS.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00400"/>
            <a:ext cx="557784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[6] Ribeiro, M., Singh, S., &amp; Guestrin, C. (2016). "Why Should I Trust You?: Explaining the Predictions of Any Classifier." KDD.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06240"/>
            <a:ext cx="557784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[7] Chen, Y., Ding, Z., et al. (2023). "DiverseVul: A New Vulnerable Source Code Dataset for Deep Learning." RAID.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06240"/>
            <a:ext cx="557784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[8] Wolf, T., et al. (2020). "Transformers: State-of-the-Art Natural Language Processing." EMNLP Demos.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212080"/>
            <a:ext cx="557784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035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[9] Vaswani, A., et al. (2017). "Attention Is All You Need." NeurIPS.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5212080"/>
            <a:ext cx="557784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3035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[10] Zhou, Y., et al. (2019). "Devign: Effective Vulnerability Identification by Learning Graph Features." NeurIPS.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0" y="-914400"/>
            <a:ext cx="5486400" cy="54864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3657600"/>
            <a:ext cx="5486400" cy="4572000"/>
          </a:xfrm>
          <a:prstGeom prst="roundRect">
            <a:avLst/>
          </a:prstGeom>
          <a:solidFill>
            <a:srgbClr val="0E4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017520"/>
            <a:ext cx="210312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6B6D4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3891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Nahyan M</a:t>
            </a:r>
          </a:p>
          <a:p>
            <a:pPr>
              <a:spcBef>
                <a:spcPts val="8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Department of Computer Science &amp; Engineering</a:t>
            </a:r>
          </a:p>
          <a:p>
            <a:pPr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BTech Final Year Project  • 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